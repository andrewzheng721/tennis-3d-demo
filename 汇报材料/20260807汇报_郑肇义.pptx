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6" r:id="rId2"/>
    <p:sldId id="2914" r:id="rId3"/>
    <p:sldId id="2916" r:id="rId4"/>
    <p:sldId id="2918" r:id="rId5"/>
    <p:sldId id="291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E5069-2420-688B-28B5-6341265E0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7D11FF-FA54-7FEE-CA51-E68B14826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0D704-EAD6-2124-A82C-6219EFAD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4CBDD5-4111-5401-20B9-78A6FFA7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84B61-44E3-ECEA-0268-7102E57F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46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23F8F-30BD-9B7A-9FC2-B161D503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EECC12-731B-1269-93DC-D0ACBDC44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2E7CB8-A8DF-5475-3C4A-D480F4977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86159-31F5-B933-6671-AEAE4358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249D8-D408-D113-46B6-25337F8D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301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D1C61-C55F-B446-C0F7-1637723B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FA271B-5148-D403-1B1A-837199141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ABEF5-F9BF-AD94-9144-655E2FD0E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54FDA-903A-7128-F929-F4F014C6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26F1A1-40E5-A099-474E-4BE0A605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15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64D7F4-B1E2-95D6-7D68-8D2FCB94E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9258C-642C-6267-DC68-EC7C78262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97488F-CF79-E6F9-82D7-450597BDD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75F52B-681E-480B-EFEA-7696C99EE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5DD0B4-5269-257D-8A5C-638AEE37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9577FC-B4DE-CDE5-68F8-EE8D66D54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42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12EAE-EA1B-90B3-5DDC-A5F5C05F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D67D02-EC6E-BF25-00DF-6AA6EF351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3D95A8-DBA5-53E1-B18B-BCB31905B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BCC9EF-4849-FD75-7E9E-2F4E43847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931811-0666-6A04-0887-69382AC0C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6D4261-B57D-42C1-AC5C-CF83DA551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D159ED-D762-F1BD-BDCC-D6C519F13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D0F37A-267D-A8BE-48B9-1F3110BD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45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2467F-6D12-03B9-7238-CC7298594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45D817-A9FB-0AA3-A89C-0506F9EC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4BDF53-FE82-9192-8C60-AB924251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DADF61-072F-E34E-AEB6-9D4439C6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17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2222A2-B074-8157-224B-C02B1348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62E821-2A4B-00AA-00C3-6B9F7B6B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9351C0-9E87-7E2F-4B9B-AD92E009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39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F34B7-4336-E29B-6CF5-32F3110FA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1AC794-0560-F52B-3721-999405E4C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B3EC33-3594-2279-932B-C30F904A8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1BFF7D-2BDB-6601-9A11-8AA7CC96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50D4CE-9D8E-C568-02AD-991CBBD63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BA7B03-2862-A4D2-9A8D-3A8F0A62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393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F189D-14CA-FAC2-121D-54C64EEB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523AB1-C5B4-4A17-D8FA-6C7853144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A13F3F-56CD-E6D4-2CFB-A4126CDAA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260AB9-D102-1A1F-5EC9-EDDDC51A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03F71A-45C9-4F8F-E881-A1FBF1620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F76FD8-432C-3152-4ADA-DEF88AEC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6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7F9FF-16B6-6B5D-20C4-BFE1BDEF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ECB576-5B38-648B-3E8A-892E9C8CB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CB4450-26DC-A260-1D92-648635A19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715A3-9A39-C556-9802-A1C14D20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DE4E5D-6BE9-CCB9-5E81-518081F5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801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EAB639-9424-9CBC-41FB-CC69ECD50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DFD76D-B063-84C4-4E3E-81CE3B3E3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E4B192-F2AE-79EA-AA2C-5B8F5233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A152-C9BF-4230-B153-1EE741DBB0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5F6E86-4411-36FC-82A0-28E5E7B4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F24F1C-B701-6D38-A4DF-7A53D447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460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50BA1C-0CC2-70AE-FF1E-35CDA7F3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A52CD3-0B0E-8ABE-909F-7ED27C75F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AD90EC-5116-CFC0-31F4-22D925D0F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AA152-C9BF-4230-B153-1EE741DBB0B9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C3C150-C70C-10E2-8DE4-45595D738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A8F473-7026-CD5A-909F-814A8953C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6AB3C-F526-4F61-931C-91B874D20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5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791265"/>
            <a:ext cx="12192001" cy="4914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44983" y="4452936"/>
            <a:ext cx="1502034" cy="288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705" b="1" spc="284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MO" panose="020B0400000000000000" charset="-120"/>
              </a:rPr>
              <a:t>郑肇义</a:t>
            </a:r>
            <a:endParaRPr lang="en-US" altLang="zh-CN" sz="1705" b="1" spc="284" dirty="0">
              <a:solidFill>
                <a:srgbClr val="7038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ingFang MO" panose="020B0400000000000000" charset="-12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862997" y="2239282"/>
            <a:ext cx="8261185" cy="2012474"/>
            <a:chOff x="1964879" y="2193806"/>
            <a:chExt cx="8712968" cy="2122532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1964879" y="4287473"/>
              <a:ext cx="8712968" cy="0"/>
            </a:xfrm>
            <a:prstGeom prst="line">
              <a:avLst/>
            </a:prstGeom>
            <a:ln w="28575">
              <a:solidFill>
                <a:srgbClr val="660874">
                  <a:alpha val="5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3391874" y="2193806"/>
              <a:ext cx="6150937" cy="21225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690" b="1" spc="284" dirty="0">
                  <a:solidFill>
                    <a:srgbClr val="6608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ingFang MO" panose="020B0400000000000000" charset="-120"/>
                </a:rPr>
                <a:t>20260807</a:t>
              </a:r>
            </a:p>
            <a:p>
              <a:pPr algn="ctr">
                <a:lnSpc>
                  <a:spcPct val="120000"/>
                </a:lnSpc>
              </a:pPr>
              <a:r>
                <a:rPr lang="zh-CN" altLang="en-US" sz="5690" b="1" spc="284" dirty="0">
                  <a:solidFill>
                    <a:srgbClr val="66087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ingFang MO" panose="020B0400000000000000" charset="-120"/>
                </a:rPr>
                <a:t>网球工作汇报</a:t>
              </a: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60" y="446824"/>
            <a:ext cx="4559411" cy="819291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706165"/>
            <a:ext cx="12192000" cy="166719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PingFang MO" panose="020B0400000000000000" charset="-12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DE609-E5CD-53B7-EEA3-220402F3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0FA3ABA-81CE-0F73-EC0B-FE17E61C89AD}"/>
              </a:ext>
            </a:extLst>
          </p:cNvPr>
          <p:cNvSpPr/>
          <p:nvPr/>
        </p:nvSpPr>
        <p:spPr>
          <a:xfrm>
            <a:off x="0" y="6486458"/>
            <a:ext cx="12192000" cy="371542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55EEEF-0417-BA37-8366-D6C6C789DC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758" y="0"/>
            <a:ext cx="3474241" cy="624294"/>
          </a:xfrm>
          <a:prstGeom prst="rect">
            <a:avLst/>
          </a:prstGeom>
        </p:spPr>
      </p:pic>
      <p:sp>
        <p:nvSpPr>
          <p:cNvPr id="32" name="灯片编号占位符 4">
            <a:extLst>
              <a:ext uri="{FF2B5EF4-FFF2-40B4-BE49-F238E27FC236}">
                <a16:creationId xmlns:a16="http://schemas.microsoft.com/office/drawing/2014/main" id="{BFE589F5-6EA7-F14E-3FAC-7E8C5763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69FA7-88E6-B3CF-CE77-1DDC9E52B7C4}"/>
              </a:ext>
            </a:extLst>
          </p:cNvPr>
          <p:cNvSpPr txBox="1"/>
          <p:nvPr/>
        </p:nvSpPr>
        <p:spPr>
          <a:xfrm>
            <a:off x="48261" y="45071"/>
            <a:ext cx="66484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主要工作内容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9379C0-6C62-F258-8D01-FBBA1283AE35}"/>
              </a:ext>
            </a:extLst>
          </p:cNvPr>
          <p:cNvSpPr txBox="1"/>
          <p:nvPr/>
        </p:nvSpPr>
        <p:spPr>
          <a:xfrm>
            <a:off x="355411" y="771858"/>
            <a:ext cx="5460928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Stage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网球识别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Volo26m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ball_detections.json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：每帧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网球所在位置及置信度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ball_detection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.mp4：可视化视频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（示例如下）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4346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365F-4476-FB36-CEAF-C76ECE67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A55737-6EAA-0023-927A-87532C4468AC}"/>
              </a:ext>
            </a:extLst>
          </p:cNvPr>
          <p:cNvSpPr/>
          <p:nvPr/>
        </p:nvSpPr>
        <p:spPr>
          <a:xfrm>
            <a:off x="0" y="6486458"/>
            <a:ext cx="12192000" cy="371542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1A6220-1F49-143A-F27C-697724FAF2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758" y="0"/>
            <a:ext cx="3474241" cy="624294"/>
          </a:xfrm>
          <a:prstGeom prst="rect">
            <a:avLst/>
          </a:prstGeom>
        </p:spPr>
      </p:pic>
      <p:sp>
        <p:nvSpPr>
          <p:cNvPr id="32" name="灯片编号占位符 4">
            <a:extLst>
              <a:ext uri="{FF2B5EF4-FFF2-40B4-BE49-F238E27FC236}">
                <a16:creationId xmlns:a16="http://schemas.microsoft.com/office/drawing/2014/main" id="{CA0C2F14-2305-E1DF-97C9-E8399696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42EE1D-8F2C-C1F5-94A0-B6CA854649BE}"/>
              </a:ext>
            </a:extLst>
          </p:cNvPr>
          <p:cNvSpPr txBox="1"/>
          <p:nvPr/>
        </p:nvSpPr>
        <p:spPr>
          <a:xfrm>
            <a:off x="48261" y="45071"/>
            <a:ext cx="66484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主要工作内容</a:t>
            </a:r>
          </a:p>
        </p:txBody>
      </p:sp>
      <p:pic>
        <p:nvPicPr>
          <p:cNvPr id="6" name="ball_detection">
            <a:hlinkClick r:id="" action="ppaction://media"/>
            <a:extLst>
              <a:ext uri="{FF2B5EF4-FFF2-40B4-BE49-F238E27FC236}">
                <a16:creationId xmlns:a16="http://schemas.microsoft.com/office/drawing/2014/main" id="{6925E4BB-1E6A-E3ED-69F3-533290005B0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52171" y="1143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1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75BD8-B284-7DAA-6A32-FBA8B98A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F9D23E8-E1A4-C16A-F803-72DEA5016709}"/>
              </a:ext>
            </a:extLst>
          </p:cNvPr>
          <p:cNvSpPr/>
          <p:nvPr/>
        </p:nvSpPr>
        <p:spPr>
          <a:xfrm>
            <a:off x="0" y="6486458"/>
            <a:ext cx="12192000" cy="371542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207E74-EFA1-0AEC-D5B4-C1492791FE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758" y="0"/>
            <a:ext cx="3474241" cy="624294"/>
          </a:xfrm>
          <a:prstGeom prst="rect">
            <a:avLst/>
          </a:prstGeom>
        </p:spPr>
      </p:pic>
      <p:sp>
        <p:nvSpPr>
          <p:cNvPr id="32" name="灯片编号占位符 4">
            <a:extLst>
              <a:ext uri="{FF2B5EF4-FFF2-40B4-BE49-F238E27FC236}">
                <a16:creationId xmlns:a16="http://schemas.microsoft.com/office/drawing/2014/main" id="{933306DF-6CD9-8D6A-BC98-17278E78D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0F78DA-A336-9064-E7F8-1F747A249EB9}"/>
              </a:ext>
            </a:extLst>
          </p:cNvPr>
          <p:cNvSpPr txBox="1"/>
          <p:nvPr/>
        </p:nvSpPr>
        <p:spPr>
          <a:xfrm>
            <a:off x="48261" y="45071"/>
            <a:ext cx="66484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主要工作内容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8277845-954D-7078-6207-8DCA67D8C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465955"/>
              </p:ext>
            </p:extLst>
          </p:nvPr>
        </p:nvGraphicFramePr>
        <p:xfrm>
          <a:off x="5090622" y="556942"/>
          <a:ext cx="6745967" cy="57441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975">
                  <a:extLst>
                    <a:ext uri="{9D8B030D-6E8A-4147-A177-3AD203B41FA5}">
                      <a16:colId xmlns:a16="http://schemas.microsoft.com/office/drawing/2014/main" val="3849053450"/>
                    </a:ext>
                  </a:extLst>
                </a:gridCol>
                <a:gridCol w="772975">
                  <a:extLst>
                    <a:ext uri="{9D8B030D-6E8A-4147-A177-3AD203B41FA5}">
                      <a16:colId xmlns:a16="http://schemas.microsoft.com/office/drawing/2014/main" val="3644600436"/>
                    </a:ext>
                  </a:extLst>
                </a:gridCol>
                <a:gridCol w="674597">
                  <a:extLst>
                    <a:ext uri="{9D8B030D-6E8A-4147-A177-3AD203B41FA5}">
                      <a16:colId xmlns:a16="http://schemas.microsoft.com/office/drawing/2014/main" val="2431739201"/>
                    </a:ext>
                  </a:extLst>
                </a:gridCol>
                <a:gridCol w="674597">
                  <a:extLst>
                    <a:ext uri="{9D8B030D-6E8A-4147-A177-3AD203B41FA5}">
                      <a16:colId xmlns:a16="http://schemas.microsoft.com/office/drawing/2014/main" val="773097456"/>
                    </a:ext>
                  </a:extLst>
                </a:gridCol>
                <a:gridCol w="674597">
                  <a:extLst>
                    <a:ext uri="{9D8B030D-6E8A-4147-A177-3AD203B41FA5}">
                      <a16:colId xmlns:a16="http://schemas.microsoft.com/office/drawing/2014/main" val="827534675"/>
                    </a:ext>
                  </a:extLst>
                </a:gridCol>
                <a:gridCol w="674597">
                  <a:extLst>
                    <a:ext uri="{9D8B030D-6E8A-4147-A177-3AD203B41FA5}">
                      <a16:colId xmlns:a16="http://schemas.microsoft.com/office/drawing/2014/main" val="2908787305"/>
                    </a:ext>
                  </a:extLst>
                </a:gridCol>
                <a:gridCol w="772975">
                  <a:extLst>
                    <a:ext uri="{9D8B030D-6E8A-4147-A177-3AD203B41FA5}">
                      <a16:colId xmlns:a16="http://schemas.microsoft.com/office/drawing/2014/main" val="2422759392"/>
                    </a:ext>
                  </a:extLst>
                </a:gridCol>
                <a:gridCol w="772975">
                  <a:extLst>
                    <a:ext uri="{9D8B030D-6E8A-4147-A177-3AD203B41FA5}">
                      <a16:colId xmlns:a16="http://schemas.microsoft.com/office/drawing/2014/main" val="1471947085"/>
                    </a:ext>
                  </a:extLst>
                </a:gridCol>
                <a:gridCol w="955679">
                  <a:extLst>
                    <a:ext uri="{9D8B030D-6E8A-4147-A177-3AD203B41FA5}">
                      <a16:colId xmlns:a16="http://schemas.microsoft.com/office/drawing/2014/main" val="3256395994"/>
                    </a:ext>
                  </a:extLst>
                </a:gridCol>
              </a:tblGrid>
              <a:tr h="1999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frame_id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time_sec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x1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y1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x2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y2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center_x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center_y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confidence</a:t>
                      </a:r>
                      <a:endParaRPr lang="zh-CN" sz="13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/>
                </a:tc>
                <a:extLst>
                  <a:ext uri="{0D108BD9-81ED-4DB2-BD59-A6C34878D82A}">
                    <a16:rowId xmlns:a16="http://schemas.microsoft.com/office/drawing/2014/main" val="2286291707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0.067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562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566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564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173.5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0.153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1587820891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0.967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586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588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171.5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0.1168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595438917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1.033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589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591.5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0.3919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1094832314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1.067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594.5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0.3082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234663632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 dirty="0">
                          <a:effectLst/>
                        </a:rPr>
                        <a:t>1.1</a:t>
                      </a:r>
                      <a:endParaRPr 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596.5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166.5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0.3908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1232618656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1.133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599.5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166.5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0.3969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068115656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1.133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599.5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166.5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0.1378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934832742"/>
                  </a:ext>
                </a:extLst>
              </a:tr>
              <a:tr h="16408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1.167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599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167.5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0.2039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04907407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1.167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0.1021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249393865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610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606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169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0.2933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1357958586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1.267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612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617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614.5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173.5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0.3949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545200876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44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1.467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645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208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215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648.5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211.5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0.7112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1165661401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46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1.533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661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230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668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239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664.5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234.5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0.7946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911101945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47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1.567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669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243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677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673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247.5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0.4359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85301521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47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1.567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669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244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677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673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248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0.3016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272128342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48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678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258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687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268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682.5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0.4818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4023345329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49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1.633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687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275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696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285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691.5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280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0.5608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105816595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1.667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699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304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299.5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0.7859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843306111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1.667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304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299.5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0.161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4280159198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712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319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719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326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715.5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322.5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0.382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4101206430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1.733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724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339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732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728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345.5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0.5026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413237042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1.733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699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303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702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298.5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0.2527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533770857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1.767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736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365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744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376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740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370.5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0.7404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360390794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1.767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1039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246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1047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256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1043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251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0.2579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004856404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745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352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753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362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749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357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0.4546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2310279219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1.833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754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338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763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758.5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0.3566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936663473"/>
                  </a:ext>
                </a:extLst>
              </a:tr>
              <a:tr h="1999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55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1.833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755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338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764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348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759.5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>
                          <a:effectLst/>
                        </a:rPr>
                        <a:t>343</a:t>
                      </a:r>
                      <a:endParaRPr lang="zh-CN" sz="1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zh-CN" sz="1300" u="none" strike="noStrike" dirty="0">
                          <a:effectLst/>
                        </a:rPr>
                        <a:t>0.2513</a:t>
                      </a:r>
                      <a:endParaRPr 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27" marR="7027" marT="7027" marB="0" anchor="b"/>
                </a:tc>
                <a:extLst>
                  <a:ext uri="{0D108BD9-81ED-4DB2-BD59-A6C34878D82A}">
                    <a16:rowId xmlns:a16="http://schemas.microsoft.com/office/drawing/2014/main" val="3939204028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A01728FE-8F0E-1D7C-6E6D-E5A6E3874C5D}"/>
              </a:ext>
            </a:extLst>
          </p:cNvPr>
          <p:cNvSpPr txBox="1"/>
          <p:nvPr/>
        </p:nvSpPr>
        <p:spPr>
          <a:xfrm>
            <a:off x="355411" y="771858"/>
            <a:ext cx="4735211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Stage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网球识别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存在跳帧，网球识别不到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置信度普遍偏低：大部分位于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0.1~0.3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区间内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8002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09236-741F-4D08-F085-03F1D4F0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0A3C97-D80E-6915-0AB6-80875E233E88}"/>
              </a:ext>
            </a:extLst>
          </p:cNvPr>
          <p:cNvSpPr/>
          <p:nvPr/>
        </p:nvSpPr>
        <p:spPr>
          <a:xfrm>
            <a:off x="0" y="6486458"/>
            <a:ext cx="12192000" cy="371542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sz="1705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EE3DBE-3824-A125-CE22-827192AB4A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758" y="0"/>
            <a:ext cx="3474241" cy="624294"/>
          </a:xfrm>
          <a:prstGeom prst="rect">
            <a:avLst/>
          </a:prstGeom>
        </p:spPr>
      </p:pic>
      <p:sp>
        <p:nvSpPr>
          <p:cNvPr id="32" name="灯片编号占位符 4">
            <a:extLst>
              <a:ext uri="{FF2B5EF4-FFF2-40B4-BE49-F238E27FC236}">
                <a16:creationId xmlns:a16="http://schemas.microsoft.com/office/drawing/2014/main" id="{3E99BA82-BF66-3756-F78B-4F02A556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21C9D7-1B23-4F56-A966-B2E4BE594BA2}" type="slidenum">
              <a:rPr lang="zh-CN" altLang="en-US" sz="16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35C81F-D1B9-F507-3AB5-6A2645B3EB02}"/>
              </a:ext>
            </a:extLst>
          </p:cNvPr>
          <p:cNvSpPr txBox="1"/>
          <p:nvPr/>
        </p:nvSpPr>
        <p:spPr>
          <a:xfrm>
            <a:off x="48261" y="45071"/>
            <a:ext cx="664845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后续优化工作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F7619-1EC0-6A32-AF8A-A6AB952C064D}"/>
              </a:ext>
            </a:extLst>
          </p:cNvPr>
          <p:cNvSpPr txBox="1"/>
          <p:nvPr/>
        </p:nvSpPr>
        <p:spPr>
          <a:xfrm>
            <a:off x="459105" y="1125220"/>
            <a:ext cx="6769009" cy="372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已做尝试❌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Tracknet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模型：善于小球识别及动作轨迹提取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后续计划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bytetrack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补全关键帧和运动轨迹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微调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Yolo26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339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1118</Words>
  <Application>Microsoft Office PowerPoint</Application>
  <PresentationFormat>宽屏</PresentationFormat>
  <Paragraphs>283</Paragraphs>
  <Slides>5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宋体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Zheng</dc:creator>
  <cp:lastModifiedBy>Andy Zheng</cp:lastModifiedBy>
  <cp:revision>4</cp:revision>
  <dcterms:created xsi:type="dcterms:W3CDTF">2026-06-11T04:55:24Z</dcterms:created>
  <dcterms:modified xsi:type="dcterms:W3CDTF">2026-08-07T05:06:26Z</dcterms:modified>
</cp:coreProperties>
</file>